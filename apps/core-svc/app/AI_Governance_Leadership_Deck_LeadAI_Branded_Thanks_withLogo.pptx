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74664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3A5BF1-3EAC-48DD-8DC1-662E18FA33B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Rectangle 2"/>
          <p:cNvSpPr/>
          <p:nvPr/>
        </p:nvSpPr>
        <p:spPr>
          <a:xfrm rot="20400000">
            <a:off x="8152920" y="-913320"/>
            <a:ext cx="2285640" cy="1462680"/>
          </a:xfrm>
          <a:prstGeom prst="rect">
            <a:avLst/>
          </a:prstGeom>
          <a:solidFill>
            <a:srgbClr val="ffb4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" name="TextBox 1"/>
          <p:cNvSpPr/>
          <p:nvPr/>
        </p:nvSpPr>
        <p:spPr>
          <a:xfrm>
            <a:off x="274320" y="274320"/>
            <a:ext cx="1457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rgbClr val="54585a"/>
                </a:solidFill>
                <a:effectLst/>
                <a:uFillTx/>
                <a:latin typeface="Calibri"/>
              </a:rPr>
              <a:t>Lead</a:t>
            </a:r>
            <a:r>
              <a:rPr b="1" lang="en-US" sz="3600" strike="noStrike" u="none">
                <a:solidFill>
                  <a:srgbClr val="ffb400"/>
                </a:solidFill>
                <a:effectLst/>
                <a:uFillTx/>
                <a:latin typeface="Calibri"/>
              </a:rPr>
              <a:t>AI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Rectangle 2"/>
          <p:cNvSpPr/>
          <p:nvPr/>
        </p:nvSpPr>
        <p:spPr>
          <a:xfrm rot="20400000">
            <a:off x="-1386720" y="5048280"/>
            <a:ext cx="2285640" cy="1462680"/>
          </a:xfrm>
          <a:prstGeom prst="rect">
            <a:avLst/>
          </a:prstGeom>
          <a:solidFill>
            <a:srgbClr val="ffb4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1E9ACA2-5270-4411-B534-C89BB4EA543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92BD0B-0D45-482D-88D6-35FD8FFE654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872129-C385-453F-9EDA-99DF5DF5D25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6917C31-4E7C-48FD-8F34-656F6F72886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8800A8-305B-4494-B5D7-43BFF45AA25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3669AA-FC58-4A42-B13B-47BE8957364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Rectangle 2"/>
          <p:cNvSpPr/>
          <p:nvPr/>
        </p:nvSpPr>
        <p:spPr>
          <a:xfrm rot="20400000">
            <a:off x="7972920" y="-553320"/>
            <a:ext cx="2285640" cy="1462680"/>
          </a:xfrm>
          <a:prstGeom prst="rect">
            <a:avLst/>
          </a:prstGeom>
          <a:solidFill>
            <a:srgbClr val="ffb4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" name="TextBox 1"/>
          <p:cNvSpPr/>
          <p:nvPr/>
        </p:nvSpPr>
        <p:spPr>
          <a:xfrm>
            <a:off x="274320" y="274320"/>
            <a:ext cx="1457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rgbClr val="54585a"/>
                </a:solidFill>
                <a:effectLst/>
                <a:uFillTx/>
                <a:latin typeface="Calibri"/>
              </a:rPr>
              <a:t>Lead</a:t>
            </a:r>
            <a:r>
              <a:rPr b="1" lang="en-US" sz="3600" strike="noStrike" u="none">
                <a:solidFill>
                  <a:srgbClr val="ffb400"/>
                </a:solidFill>
                <a:effectLst/>
                <a:uFillTx/>
                <a:latin typeface="Calibri"/>
              </a:rPr>
              <a:t>AI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Rectangle 2"/>
          <p:cNvSpPr/>
          <p:nvPr/>
        </p:nvSpPr>
        <p:spPr>
          <a:xfrm rot="1588800">
            <a:off x="8308080" y="5292720"/>
            <a:ext cx="2285640" cy="1462680"/>
          </a:xfrm>
          <a:prstGeom prst="rect">
            <a:avLst/>
          </a:prstGeom>
          <a:solidFill>
            <a:srgbClr val="ffb4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FAD3B24-B385-47F7-9B2B-099DF0B52AA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48B387C-FD32-4BF8-8F87-0606EC0978F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080000" y="720000"/>
            <a:ext cx="6660000" cy="80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1F34109-E325-45B4-8BD5-0156CF70ACA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Rectangle 2"/>
          <p:cNvSpPr/>
          <p:nvPr/>
        </p:nvSpPr>
        <p:spPr>
          <a:xfrm rot="20400000">
            <a:off x="7561080" y="4846320"/>
            <a:ext cx="2285640" cy="1462680"/>
          </a:xfrm>
          <a:prstGeom prst="rect">
            <a:avLst/>
          </a:prstGeom>
          <a:solidFill>
            <a:srgbClr val="ffb4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" name="TextBox 1"/>
          <p:cNvSpPr/>
          <p:nvPr/>
        </p:nvSpPr>
        <p:spPr>
          <a:xfrm>
            <a:off x="274320" y="274320"/>
            <a:ext cx="1457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rgbClr val="54585a"/>
                </a:solidFill>
                <a:effectLst/>
                <a:uFillTx/>
                <a:latin typeface="Calibri"/>
              </a:rPr>
              <a:t>Lead</a:t>
            </a:r>
            <a:r>
              <a:rPr b="1" lang="en-US" sz="3600" strike="noStrike" u="none">
                <a:solidFill>
                  <a:srgbClr val="ffb400"/>
                </a:solidFill>
                <a:effectLst/>
                <a:uFillTx/>
                <a:latin typeface="Calibri"/>
              </a:rPr>
              <a:t>AI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Rectangle 2"/>
          <p:cNvSpPr/>
          <p:nvPr/>
        </p:nvSpPr>
        <p:spPr>
          <a:xfrm rot="20400000">
            <a:off x="-1926720" y="3046320"/>
            <a:ext cx="2285640" cy="1462680"/>
          </a:xfrm>
          <a:prstGeom prst="rect">
            <a:avLst/>
          </a:prstGeom>
          <a:solidFill>
            <a:srgbClr val="ffb4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6E8FCE5-B9DE-458E-A54A-67D75E9B90D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Rectangle 2"/>
          <p:cNvSpPr/>
          <p:nvPr/>
        </p:nvSpPr>
        <p:spPr>
          <a:xfrm rot="2398800">
            <a:off x="7582680" y="-516600"/>
            <a:ext cx="2285640" cy="1462680"/>
          </a:xfrm>
          <a:prstGeom prst="rect">
            <a:avLst/>
          </a:prstGeom>
          <a:solidFill>
            <a:srgbClr val="ffb4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1"/>
          <p:cNvSpPr/>
          <p:nvPr/>
        </p:nvSpPr>
        <p:spPr>
          <a:xfrm>
            <a:off x="274320" y="274320"/>
            <a:ext cx="1457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rgbClr val="54585a"/>
                </a:solidFill>
                <a:effectLst/>
                <a:uFillTx/>
                <a:latin typeface="Calibri"/>
              </a:rPr>
              <a:t>Lead</a:t>
            </a:r>
            <a:r>
              <a:rPr b="1" lang="en-US" sz="3600" strike="noStrike" u="none">
                <a:solidFill>
                  <a:srgbClr val="ffb400"/>
                </a:solidFill>
                <a:effectLst/>
                <a:uFillTx/>
                <a:latin typeface="Calibri"/>
              </a:rPr>
              <a:t>AI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ectangle 2"/>
          <p:cNvSpPr/>
          <p:nvPr/>
        </p:nvSpPr>
        <p:spPr>
          <a:xfrm rot="2358000">
            <a:off x="-1775160" y="4158360"/>
            <a:ext cx="2285640" cy="1462680"/>
          </a:xfrm>
          <a:prstGeom prst="rect">
            <a:avLst/>
          </a:prstGeom>
          <a:solidFill>
            <a:srgbClr val="ffb4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dt" idx="3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ftr" idx="3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sldNum" idx="3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5CFC99-F79A-4573-B5F5-FF7204A3F0D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dt" idx="3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ftr" idx="3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6"/>
          <p:cNvSpPr>
            <a:spLocks noGrp="1"/>
          </p:cNvSpPr>
          <p:nvPr>
            <p:ph type="sldNum" idx="3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A93B041-878E-41D3-9346-BE1CC88B303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AI Governance &amp; EU AI Act Readiness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rgbClr val="54585a"/>
                </a:solidFill>
                <a:effectLst/>
                <a:uFillTx/>
                <a:latin typeface="Calibri"/>
              </a:rPr>
              <a:t>Leadership Briefing – 10 December 2025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4"/>
          <p:cNvSpPr/>
          <p:nvPr/>
        </p:nvSpPr>
        <p:spPr>
          <a:xfrm rot="20400000">
            <a:off x="7680600" y="-365760"/>
            <a:ext cx="2285640" cy="1462680"/>
          </a:xfrm>
          <a:prstGeom prst="rect">
            <a:avLst/>
          </a:prstGeom>
          <a:solidFill>
            <a:srgbClr val="ffb4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10760" y="1260000"/>
            <a:ext cx="822924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3600" strike="noStrike" u="none">
                <a:solidFill>
                  <a:srgbClr val="333333"/>
                </a:solidFill>
                <a:effectLst/>
                <a:uFillTx/>
                <a:latin typeface="Calibri"/>
              </a:rPr>
              <a:t>Why AI Governance Matters Now</a:t>
            </a:r>
            <a:endParaRPr b="0" lang="en-US" sz="3600" strike="noStrike" u="non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84" name="Rectangle 4"/>
          <p:cNvSpPr/>
          <p:nvPr/>
        </p:nvSpPr>
        <p:spPr>
          <a:xfrm rot="19212600">
            <a:off x="8281080" y="-553320"/>
            <a:ext cx="2285640" cy="1462680"/>
          </a:xfrm>
          <a:prstGeom prst="rect">
            <a:avLst/>
          </a:prstGeom>
          <a:solidFill>
            <a:srgbClr val="ffb4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4"/>
          <p:cNvSpPr/>
          <p:nvPr/>
        </p:nvSpPr>
        <p:spPr>
          <a:xfrm>
            <a:off x="274320" y="274320"/>
            <a:ext cx="1457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rgbClr val="54585a"/>
                </a:solidFill>
                <a:effectLst/>
                <a:uFillTx/>
                <a:latin typeface="Calibri"/>
              </a:rPr>
              <a:t>Lead</a:t>
            </a:r>
            <a:r>
              <a:rPr b="1" lang="en-US" sz="3600" strike="noStrike" u="none">
                <a:solidFill>
                  <a:srgbClr val="ffb400"/>
                </a:solidFill>
                <a:effectLst/>
                <a:uFillTx/>
                <a:latin typeface="Calibri"/>
              </a:rPr>
              <a:t>AI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10760" y="2160000"/>
            <a:ext cx="8229240" cy="41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927"/>
              </a:spcBef>
              <a:spcAft>
                <a:spcPts val="567"/>
              </a:spcAft>
              <a:buClr>
                <a:srgbClr val="2d3e4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2d3e40"/>
                </a:solidFill>
                <a:effectLst/>
                <a:uFillTx/>
                <a:latin typeface="Calibri"/>
              </a:rPr>
              <a:t>AI is now embedded in core business processes and customer journeys.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  <a:ea typeface="Microsoft YaHe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927"/>
              </a:spcBef>
              <a:spcAft>
                <a:spcPts val="567"/>
              </a:spcAft>
              <a:buClr>
                <a:srgbClr val="2d3e4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2d3e40"/>
                </a:solidFill>
                <a:effectLst/>
                <a:uFillTx/>
                <a:latin typeface="Calibri"/>
              </a:rPr>
              <a:t>Regulators expect systematic governance, not ad-hoc control.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  <a:ea typeface="Microsoft YaHe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927"/>
              </a:spcBef>
              <a:spcAft>
                <a:spcPts val="567"/>
              </a:spcAft>
              <a:buClr>
                <a:srgbClr val="2d3e4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2d3e40"/>
                </a:solidFill>
                <a:effectLst/>
                <a:uFillTx/>
                <a:latin typeface="Calibri"/>
              </a:rPr>
              <a:t>EU AI Act introduces strict obligations for high-risk and general-purpose AI.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  <a:ea typeface="Microsoft YaHe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927"/>
              </a:spcBef>
              <a:spcAft>
                <a:spcPts val="567"/>
              </a:spcAft>
              <a:buClr>
                <a:srgbClr val="2d3e4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2d3e40"/>
                </a:solidFill>
                <a:effectLst/>
                <a:uFillTx/>
                <a:latin typeface="Calibri"/>
              </a:rPr>
              <a:t>ISO/IEC 42001 provides a structured AI Management System (AIMS).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  <a:ea typeface="Microsoft YaHe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927"/>
              </a:spcBef>
              <a:spcAft>
                <a:spcPts val="567"/>
              </a:spcAft>
              <a:buClr>
                <a:srgbClr val="2d3e4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2d3e40"/>
                </a:solidFill>
                <a:effectLst/>
                <a:uFillTx/>
                <a:latin typeface="Calibri"/>
              </a:rPr>
              <a:t>Proactive governance reduces risk while enabling safe, scalable innovation.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  <a:ea typeface="Microsoft YaHei"/>
            </a:endParaRPr>
          </a:p>
        </p:txBody>
      </p:sp>
      <p:sp>
        <p:nvSpPr>
          <p:cNvPr id="87" name="Rectangle 2"/>
          <p:cNvSpPr/>
          <p:nvPr/>
        </p:nvSpPr>
        <p:spPr>
          <a:xfrm rot="19564800">
            <a:off x="-1419120" y="5943600"/>
            <a:ext cx="2285640" cy="1462680"/>
          </a:xfrm>
          <a:prstGeom prst="rect">
            <a:avLst/>
          </a:prstGeom>
          <a:solidFill>
            <a:srgbClr val="ffb4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85212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3600" strike="noStrike" u="none">
                <a:solidFill>
                  <a:srgbClr val="333333"/>
                </a:solidFill>
                <a:effectLst/>
                <a:uFillTx/>
                <a:latin typeface="Calibri"/>
              </a:rPr>
              <a:t>ISO/IEC 42001 – AI Management System</a:t>
            </a:r>
            <a:endParaRPr b="0" lang="en-US" sz="3600" strike="noStrike" u="non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974240"/>
            <a:ext cx="8229240" cy="360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333333"/>
                </a:solidFill>
                <a:effectLst/>
                <a:uFillTx/>
                <a:latin typeface="Calibri"/>
              </a:rPr>
              <a:t>Management‑system standard for governing AI across its lifecycle.</a:t>
            </a:r>
            <a:endParaRPr b="0" lang="en-US" sz="2000" strike="noStrike" u="none">
              <a:solidFill>
                <a:srgbClr val="333333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333333"/>
                </a:solidFill>
                <a:effectLst/>
                <a:uFillTx/>
                <a:latin typeface="Calibri"/>
              </a:rPr>
              <a:t>Defines requirements for strategy, risk, data, technical controls, and monitoring.</a:t>
            </a:r>
            <a:endParaRPr b="0" lang="en-US" sz="2000" strike="noStrike" u="none">
              <a:solidFill>
                <a:srgbClr val="333333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333333"/>
                </a:solidFill>
                <a:effectLst/>
                <a:uFillTx/>
                <a:latin typeface="Calibri"/>
              </a:rPr>
              <a:t>Supports certification similar to ISO 27001 for information security.</a:t>
            </a:r>
            <a:endParaRPr b="0" lang="en-US" sz="2000" strike="noStrike" u="none">
              <a:solidFill>
                <a:srgbClr val="333333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333333"/>
                </a:solidFill>
                <a:effectLst/>
                <a:uFillTx/>
                <a:latin typeface="Calibri"/>
              </a:rPr>
              <a:t>Provides evidence of structured and responsible AI management.</a:t>
            </a:r>
            <a:endParaRPr b="0" lang="en-US" sz="2000" strike="noStrike" u="none">
              <a:solidFill>
                <a:srgbClr val="333333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333333"/>
                </a:solidFill>
                <a:effectLst/>
                <a:uFillTx/>
                <a:latin typeface="Calibri"/>
              </a:rPr>
              <a:t>Framework aligns directly with EU AI Act expectations.</a:t>
            </a:r>
            <a:endParaRPr b="0" lang="en-US" sz="2000" strike="noStrike" u="non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1"/>
          <p:cNvSpPr/>
          <p:nvPr/>
        </p:nvSpPr>
        <p:spPr>
          <a:xfrm>
            <a:off x="274320" y="274320"/>
            <a:ext cx="1457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rgbClr val="54585a"/>
                </a:solidFill>
                <a:effectLst/>
                <a:uFillTx/>
                <a:latin typeface="Calibri"/>
              </a:rPr>
              <a:t>Lead</a:t>
            </a:r>
            <a:r>
              <a:rPr b="1" lang="en-US" sz="3600" strike="noStrike" u="none">
                <a:solidFill>
                  <a:srgbClr val="ffb400"/>
                </a:solidFill>
                <a:effectLst/>
                <a:uFillTx/>
                <a:latin typeface="Calibri"/>
              </a:rPr>
              <a:t>AI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3"/>
          <p:cNvSpPr/>
          <p:nvPr/>
        </p:nvSpPr>
        <p:spPr>
          <a:xfrm rot="19212600">
            <a:off x="8281080" y="-530280"/>
            <a:ext cx="2285640" cy="1462680"/>
          </a:xfrm>
          <a:prstGeom prst="rect">
            <a:avLst/>
          </a:prstGeom>
          <a:solidFill>
            <a:srgbClr val="ffb4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Rectangle 5"/>
          <p:cNvSpPr/>
          <p:nvPr/>
        </p:nvSpPr>
        <p:spPr>
          <a:xfrm rot="19564800">
            <a:off x="-1419480" y="5967000"/>
            <a:ext cx="2285640" cy="1462680"/>
          </a:xfrm>
          <a:prstGeom prst="rect">
            <a:avLst/>
          </a:prstGeom>
          <a:solidFill>
            <a:srgbClr val="ffb4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65736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EU AI Act – Overview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83"/>
              </a:spcBef>
              <a:spcAft>
                <a:spcPts val="28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333333"/>
                </a:solidFill>
                <a:effectLst/>
                <a:uFillTx/>
                <a:latin typeface="Calibri"/>
              </a:rPr>
              <a:t>EU‑wide regulation governing the design, development, and use of AI systems.</a:t>
            </a:r>
            <a:endParaRPr b="0" lang="en-US" sz="2000" strike="noStrike" u="none">
              <a:solidFill>
                <a:srgbClr val="333333"/>
              </a:solidFill>
              <a:effectLst/>
              <a:uFillTx/>
              <a:latin typeface="Calibri"/>
              <a:ea typeface="Microsoft YaHe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83"/>
              </a:spcBef>
              <a:spcAft>
                <a:spcPts val="28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333333"/>
                </a:solidFill>
                <a:effectLst/>
                <a:uFillTx/>
                <a:latin typeface="Calibri"/>
              </a:rPr>
              <a:t>Risk tiers: prohibited, high‑risk, limited‑risk, minimal‑risk AI.</a:t>
            </a:r>
            <a:endParaRPr b="0" lang="en-US" sz="2000" strike="noStrike" u="none">
              <a:solidFill>
                <a:srgbClr val="333333"/>
              </a:solidFill>
              <a:effectLst/>
              <a:uFillTx/>
              <a:latin typeface="Calibri"/>
              <a:ea typeface="Microsoft YaHe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83"/>
              </a:spcBef>
              <a:spcAft>
                <a:spcPts val="28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333333"/>
                </a:solidFill>
                <a:effectLst/>
                <a:uFillTx/>
                <a:latin typeface="Calibri"/>
              </a:rPr>
              <a:t>High‑risk AI must meet strict requirements and undergo conformity assessment.</a:t>
            </a:r>
            <a:endParaRPr b="0" lang="en-US" sz="2000" strike="noStrike" u="none">
              <a:solidFill>
                <a:srgbClr val="333333"/>
              </a:solidFill>
              <a:effectLst/>
              <a:uFillTx/>
              <a:latin typeface="Calibri"/>
              <a:ea typeface="Microsoft YaHe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83"/>
              </a:spcBef>
              <a:spcAft>
                <a:spcPts val="28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333333"/>
                </a:solidFill>
                <a:effectLst/>
                <a:uFillTx/>
                <a:latin typeface="Calibri"/>
              </a:rPr>
              <a:t>Documentation, logging, human oversight, and robustness are mandatory.</a:t>
            </a:r>
            <a:endParaRPr b="0" lang="en-US" sz="2000" strike="noStrike" u="none">
              <a:solidFill>
                <a:srgbClr val="333333"/>
              </a:solidFill>
              <a:effectLst/>
              <a:uFillTx/>
              <a:latin typeface="Calibri"/>
              <a:ea typeface="Microsoft YaHe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83"/>
              </a:spcBef>
              <a:spcAft>
                <a:spcPts val="28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333333"/>
                </a:solidFill>
                <a:effectLst/>
                <a:uFillTx/>
                <a:latin typeface="Calibri"/>
              </a:rPr>
              <a:t>Significant enforcement and fines for non‑compliance.</a:t>
            </a:r>
            <a:endParaRPr b="0" lang="en-US" sz="2000" strike="noStrike" u="none">
              <a:solidFill>
                <a:srgbClr val="333333"/>
              </a:solidFill>
              <a:effectLst/>
              <a:uFillTx/>
              <a:latin typeface="Calibri"/>
              <a:ea typeface="Microsoft YaHei"/>
            </a:endParaRPr>
          </a:p>
        </p:txBody>
      </p:sp>
      <p:sp>
        <p:nvSpPr>
          <p:cNvPr id="95" name="TextBox 5"/>
          <p:cNvSpPr/>
          <p:nvPr/>
        </p:nvSpPr>
        <p:spPr>
          <a:xfrm>
            <a:off x="274320" y="274320"/>
            <a:ext cx="1457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rgbClr val="54585a"/>
                </a:solidFill>
                <a:effectLst/>
                <a:uFillTx/>
                <a:latin typeface="Calibri"/>
              </a:rPr>
              <a:t>Lead</a:t>
            </a:r>
            <a:r>
              <a:rPr b="1" lang="en-US" sz="3600" strike="noStrike" u="none">
                <a:solidFill>
                  <a:srgbClr val="ffb400"/>
                </a:solidFill>
                <a:effectLst/>
                <a:uFillTx/>
                <a:latin typeface="Calibri"/>
              </a:rPr>
              <a:t>AI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6"/>
          <p:cNvSpPr/>
          <p:nvPr/>
        </p:nvSpPr>
        <p:spPr>
          <a:xfrm rot="19564800">
            <a:off x="-1419480" y="5967000"/>
            <a:ext cx="2285640" cy="1462680"/>
          </a:xfrm>
          <a:prstGeom prst="rect">
            <a:avLst/>
          </a:prstGeom>
          <a:solidFill>
            <a:srgbClr val="ffb4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Rectangle 7"/>
          <p:cNvSpPr/>
          <p:nvPr/>
        </p:nvSpPr>
        <p:spPr>
          <a:xfrm rot="19212600">
            <a:off x="8281080" y="-507240"/>
            <a:ext cx="2285640" cy="1462680"/>
          </a:xfrm>
          <a:prstGeom prst="rect">
            <a:avLst/>
          </a:prstGeom>
          <a:solidFill>
            <a:srgbClr val="ffb4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91332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3600" strike="noStrike" u="none">
                <a:solidFill>
                  <a:srgbClr val="333333"/>
                </a:solidFill>
                <a:effectLst/>
                <a:uFillTx/>
                <a:latin typeface="Calibri"/>
              </a:rPr>
              <a:t>AI Governance Maturity Model</a:t>
            </a:r>
            <a:endParaRPr b="0" lang="en-US" sz="3600" strike="noStrike" u="non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95444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967"/>
              </a:spcBef>
              <a:spcAft>
                <a:spcPts val="567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Level 1 – Initial: Fragmented, undocumented, reactive AI usage.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  <a:ea typeface="Microsoft YaHe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967"/>
              </a:spcBef>
              <a:spcAft>
                <a:spcPts val="567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Level 2 – Repeatable: Some structure; inconsistent adoption across teams.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  <a:ea typeface="Microsoft YaHe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967"/>
              </a:spcBef>
              <a:spcAft>
                <a:spcPts val="567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Level 3 – Defined: Documented processes implemented across projects.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  <a:ea typeface="Microsoft YaHe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967"/>
              </a:spcBef>
              <a:spcAft>
                <a:spcPts val="567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Level 4 – Managed: KPI‑driven, monitored, measurable governance.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  <a:ea typeface="Microsoft YaHe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967"/>
              </a:spcBef>
              <a:spcAft>
                <a:spcPts val="567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Level 5 – Optimised: Automated controls, continuous improvement.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  <a:ea typeface="Microsoft YaHei"/>
            </a:endParaRPr>
          </a:p>
        </p:txBody>
      </p:sp>
      <p:sp>
        <p:nvSpPr>
          <p:cNvPr id="100" name="TextBox 6"/>
          <p:cNvSpPr/>
          <p:nvPr/>
        </p:nvSpPr>
        <p:spPr>
          <a:xfrm>
            <a:off x="274320" y="274320"/>
            <a:ext cx="14583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rgbClr val="54585a"/>
                </a:solidFill>
                <a:effectLst/>
                <a:uFillTx/>
                <a:latin typeface="Calibri"/>
              </a:rPr>
              <a:t>Lead</a:t>
            </a:r>
            <a:r>
              <a:rPr b="1" lang="en-US" sz="3600" strike="noStrike" u="none">
                <a:solidFill>
                  <a:srgbClr val="ffb400"/>
                </a:solidFill>
                <a:effectLst/>
                <a:uFillTx/>
                <a:latin typeface="Calibri"/>
              </a:rPr>
              <a:t>AI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 8"/>
          <p:cNvSpPr/>
          <p:nvPr/>
        </p:nvSpPr>
        <p:spPr>
          <a:xfrm rot="19212600">
            <a:off x="8130600" y="-698040"/>
            <a:ext cx="2285640" cy="1462680"/>
          </a:xfrm>
          <a:prstGeom prst="rect">
            <a:avLst/>
          </a:prstGeom>
          <a:solidFill>
            <a:srgbClr val="ffb4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274320" y="83736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3600" strike="noStrike" u="none">
                <a:solidFill>
                  <a:srgbClr val="333333"/>
                </a:solidFill>
                <a:effectLst/>
                <a:uFillTx/>
                <a:latin typeface="Calibri"/>
              </a:rPr>
              <a:t>Self‑Assessment Structure</a:t>
            </a:r>
            <a:endParaRPr b="0" lang="en-US" sz="3600" strike="noStrike" u="non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540000" y="1800000"/>
            <a:ext cx="8229240" cy="414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967"/>
              </a:spcBef>
              <a:spcAft>
                <a:spcPts val="567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Domains: governance, risk, data, technical robustness, oversight, transparency, monitoring, suppliers.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  <a:ea typeface="Microsoft YaHe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967"/>
              </a:spcBef>
              <a:spcAft>
                <a:spcPts val="567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Scoring: 0 = Not in place, 1 = Partial, 2 = Fully implemented.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  <a:ea typeface="Microsoft YaHe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967"/>
              </a:spcBef>
              <a:spcAft>
                <a:spcPts val="567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Total score maps to maturity level (1–5).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  <a:ea typeface="Microsoft YaHe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967"/>
              </a:spcBef>
              <a:spcAft>
                <a:spcPts val="567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Highlights strengths, gaps, and investment priorities.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  <a:ea typeface="Microsoft YaHe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967"/>
              </a:spcBef>
              <a:spcAft>
                <a:spcPts val="567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Updated findings and roadmap reflect current Level 2–3 maturity.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  <a:ea typeface="Microsoft YaHei"/>
            </a:endParaRPr>
          </a:p>
        </p:txBody>
      </p:sp>
      <p:sp>
        <p:nvSpPr>
          <p:cNvPr id="104" name="TextBox 7"/>
          <p:cNvSpPr/>
          <p:nvPr/>
        </p:nvSpPr>
        <p:spPr>
          <a:xfrm>
            <a:off x="274320" y="274320"/>
            <a:ext cx="14583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rgbClr val="54585a"/>
                </a:solidFill>
                <a:effectLst/>
                <a:uFillTx/>
                <a:latin typeface="Calibri"/>
              </a:rPr>
              <a:t>Lead</a:t>
            </a:r>
            <a:r>
              <a:rPr b="1" lang="en-US" sz="3600" strike="noStrike" u="none">
                <a:solidFill>
                  <a:srgbClr val="ffb400"/>
                </a:solidFill>
                <a:effectLst/>
                <a:uFillTx/>
                <a:latin typeface="Calibri"/>
              </a:rPr>
              <a:t>AI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9"/>
          <p:cNvSpPr/>
          <p:nvPr/>
        </p:nvSpPr>
        <p:spPr>
          <a:xfrm rot="19212600">
            <a:off x="8281080" y="-507240"/>
            <a:ext cx="2285640" cy="1462680"/>
          </a:xfrm>
          <a:prstGeom prst="rect">
            <a:avLst/>
          </a:prstGeom>
          <a:solidFill>
            <a:srgbClr val="ffb4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60000" y="83736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3600" strike="noStrike" u="none">
                <a:solidFill>
                  <a:srgbClr val="2d3e40"/>
                </a:solidFill>
                <a:effectLst/>
                <a:uFillTx/>
                <a:latin typeface="Calibri"/>
              </a:rPr>
              <a:t>Key Findings – Current State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540000" y="1974240"/>
            <a:ext cx="8229240" cy="396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3"/>
              </a:spcBef>
              <a:spcAft>
                <a:spcPts val="283"/>
              </a:spcAft>
              <a:buClr>
                <a:srgbClr val="2d3e4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2d3e40"/>
                </a:solidFill>
                <a:effectLst/>
                <a:uFillTx/>
                <a:latin typeface="Calibri"/>
              </a:rPr>
              <a:t>AI governance foundations exist, but enterprise AI ownership and accountability remain informal.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  <a:ea typeface="Microsoft YaHe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3"/>
              </a:spcBef>
              <a:spcAft>
                <a:spcPts val="283"/>
              </a:spcAft>
              <a:buClr>
                <a:srgbClr val="2d3e4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2d3e40"/>
                </a:solidFill>
                <a:effectLst/>
                <a:uFillTx/>
                <a:latin typeface="Calibri"/>
              </a:rPr>
              <a:t>AI-specific risk assessments are performed inconsistently across teams.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  <a:ea typeface="Microsoft YaHe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3"/>
              </a:spcBef>
              <a:spcAft>
                <a:spcPts val="283"/>
              </a:spcAft>
              <a:buClr>
                <a:srgbClr val="2d3e4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2d3e40"/>
                </a:solidFill>
                <a:effectLst/>
                <a:uFillTx/>
                <a:latin typeface="Calibri"/>
              </a:rPr>
              <a:t>Data governance is solid for structured data, but fairness and bias controls are not yet standardised.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  <a:ea typeface="Microsoft YaHe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3"/>
              </a:spcBef>
              <a:spcAft>
                <a:spcPts val="283"/>
              </a:spcAft>
              <a:buClr>
                <a:srgbClr val="2d3e4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2d3e40"/>
                </a:solidFill>
                <a:effectLst/>
                <a:uFillTx/>
                <a:latin typeface="Calibri"/>
              </a:rPr>
              <a:t>Technical capabilities are competent, yet monitoring, drift detection, and robustness testing vary.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  <a:ea typeface="Microsoft YaHe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3"/>
              </a:spcBef>
              <a:spcAft>
                <a:spcPts val="283"/>
              </a:spcAft>
              <a:buClr>
                <a:srgbClr val="2d3e4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2d3e40"/>
                </a:solidFill>
                <a:effectLst/>
                <a:uFillTx/>
                <a:latin typeface="Calibri"/>
              </a:rPr>
              <a:t>Third-party AI components lack structured due diligence and compliance documentation.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  <a:ea typeface="Microsoft YaHei"/>
            </a:endParaRPr>
          </a:p>
        </p:txBody>
      </p:sp>
      <p:sp>
        <p:nvSpPr>
          <p:cNvPr id="108" name="TextBox 12"/>
          <p:cNvSpPr/>
          <p:nvPr/>
        </p:nvSpPr>
        <p:spPr>
          <a:xfrm>
            <a:off x="274320" y="274320"/>
            <a:ext cx="14583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rgbClr val="54585a"/>
                </a:solidFill>
                <a:effectLst/>
                <a:uFillTx/>
                <a:latin typeface="Calibri"/>
              </a:rPr>
              <a:t>Lead</a:t>
            </a:r>
            <a:r>
              <a:rPr b="1" lang="en-US" sz="3600" strike="noStrike" u="none">
                <a:solidFill>
                  <a:srgbClr val="ffb400"/>
                </a:solidFill>
                <a:effectLst/>
                <a:uFillTx/>
                <a:latin typeface="Calibri"/>
              </a:rPr>
              <a:t>AI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10"/>
          <p:cNvSpPr/>
          <p:nvPr/>
        </p:nvSpPr>
        <p:spPr>
          <a:xfrm rot="19212600">
            <a:off x="8281080" y="-484200"/>
            <a:ext cx="2285640" cy="1462680"/>
          </a:xfrm>
          <a:prstGeom prst="rect">
            <a:avLst/>
          </a:prstGeom>
          <a:solidFill>
            <a:srgbClr val="ffb4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540000" y="101736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3600" strike="noStrike" u="none">
                <a:solidFill>
                  <a:srgbClr val="333333"/>
                </a:solidFill>
                <a:effectLst/>
                <a:uFillTx/>
                <a:latin typeface="Calibri"/>
              </a:rPr>
              <a:t>Proposed Roadmap (Aligned to Reality)</a:t>
            </a:r>
            <a:endParaRPr b="0" lang="en-US" sz="3600" strike="noStrike" u="none">
              <a:solidFill>
                <a:srgbClr val="333333"/>
              </a:solidFill>
              <a:effectLst/>
              <a:uFillTx/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540000" y="2152440"/>
            <a:ext cx="8280000" cy="378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3"/>
              </a:spcBef>
              <a:spcAft>
                <a:spcPts val="283"/>
              </a:spcAft>
              <a:buClr>
                <a:srgbClr val="2d3e4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2d3e40"/>
                </a:solidFill>
                <a:effectLst/>
                <a:uFillTx/>
                <a:latin typeface="Calibri"/>
              </a:rPr>
              <a:t>0–1 months: Establish AI governance council; define enterprise AI policy; complete AI system inventory and EU AI Act classification.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  <a:ea typeface="Microsoft YaHe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3"/>
              </a:spcBef>
              <a:spcAft>
                <a:spcPts val="283"/>
              </a:spcAft>
              <a:buClr>
                <a:srgbClr val="2d3e4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2d3e40"/>
                </a:solidFill>
                <a:effectLst/>
                <a:uFillTx/>
                <a:latin typeface="Calibri"/>
              </a:rPr>
              <a:t>1–2 months: Implement foundational AIMS processes (risk, lifecycle, data, documentation); publish standards and templates.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  <a:ea typeface="Microsoft YaHe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3"/>
              </a:spcBef>
              <a:spcAft>
                <a:spcPts val="283"/>
              </a:spcAft>
              <a:buClr>
                <a:srgbClr val="2d3e4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2d3e40"/>
                </a:solidFill>
                <a:effectLst/>
                <a:uFillTx/>
                <a:latin typeface="Calibri"/>
              </a:rPr>
              <a:t>2–4 months: Deploy monitoring, drift detection, bias testing, incident reporting, and human-oversight controls for high-risk systems.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  <a:ea typeface="Microsoft YaHe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3"/>
              </a:spcBef>
              <a:spcAft>
                <a:spcPts val="283"/>
              </a:spcAft>
              <a:buClr>
                <a:srgbClr val="2d3e4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2d3e40"/>
                </a:solidFill>
                <a:effectLst/>
                <a:uFillTx/>
                <a:latin typeface="Calibri"/>
              </a:rPr>
              <a:t>4+ months: Scale AIMS maturity across teams; integrate governance workflows with MLOps; prepare for internal/external audits.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  <a:ea typeface="Microsoft YaHe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3"/>
              </a:spcBef>
              <a:spcAft>
                <a:spcPts val="283"/>
              </a:spcAft>
              <a:buClr>
                <a:srgbClr val="2d3e4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2d3e40"/>
                </a:solidFill>
                <a:effectLst/>
                <a:uFillTx/>
                <a:latin typeface="Calibri"/>
              </a:rPr>
              <a:t>Ongoing: Review metrics, incidents, regulatory updates; refine controls as AI adoption expands.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  <a:ea typeface="Microsoft YaHei"/>
            </a:endParaRPr>
          </a:p>
        </p:txBody>
      </p:sp>
      <p:sp>
        <p:nvSpPr>
          <p:cNvPr id="112" name="TextBox 13"/>
          <p:cNvSpPr/>
          <p:nvPr/>
        </p:nvSpPr>
        <p:spPr>
          <a:xfrm>
            <a:off x="274320" y="274320"/>
            <a:ext cx="14583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rgbClr val="54585a"/>
                </a:solidFill>
                <a:effectLst/>
                <a:uFillTx/>
                <a:latin typeface="Calibri"/>
              </a:rPr>
              <a:t>Lead</a:t>
            </a:r>
            <a:r>
              <a:rPr b="1" lang="en-US" sz="3600" strike="noStrike" u="none">
                <a:solidFill>
                  <a:srgbClr val="ffb400"/>
                </a:solidFill>
                <a:effectLst/>
                <a:uFillTx/>
                <a:latin typeface="Calibri"/>
              </a:rPr>
              <a:t>AI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11"/>
          <p:cNvSpPr/>
          <p:nvPr/>
        </p:nvSpPr>
        <p:spPr>
          <a:xfrm rot="19212600">
            <a:off x="8281080" y="-484200"/>
            <a:ext cx="2285640" cy="1462680"/>
          </a:xfrm>
          <a:prstGeom prst="rect">
            <a:avLst/>
          </a:prstGeom>
          <a:solidFill>
            <a:srgbClr val="ffb4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3"/>
          <p:cNvSpPr/>
          <p:nvPr/>
        </p:nvSpPr>
        <p:spPr>
          <a:xfrm>
            <a:off x="3130560" y="2011680"/>
            <a:ext cx="2882880" cy="161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2d3e40"/>
                </a:solidFill>
                <a:effectLst/>
                <a:uFillTx/>
                <a:latin typeface="Calibri"/>
              </a:rPr>
              <a:t>Thank you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r>
              <a:rPr b="0" lang="en-US" sz="2100" strike="noStrike" u="none">
                <a:solidFill>
                  <a:srgbClr val="54585a"/>
                </a:solidFill>
                <a:effectLst/>
                <a:uFillTx/>
                <a:latin typeface="Calibri"/>
              </a:rPr>
              <a:t>Questions? </a:t>
            </a:r>
            <a:endParaRPr b="0" lang="en-GB" sz="21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algn="ctr" defTabSz="4572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r>
              <a:rPr b="0" lang="en-US" sz="2100" strike="noStrike" u="none">
                <a:solidFill>
                  <a:srgbClr val="54585a"/>
                </a:solidFill>
                <a:effectLst/>
                <a:uFillTx/>
                <a:latin typeface="Calibri"/>
              </a:rPr>
              <a:t>contact@theleadai.co.uk</a:t>
            </a:r>
            <a:endParaRPr b="0" lang="en-GB" sz="21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LibreOffice/25.2.7.2$Windows_X86_64 LibreOffice_project/5cbfd1ab6520636bb5f7b99185aa69bd7456825d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en-GB</dc:language>
  <cp:lastModifiedBy/>
  <dcterms:modified xsi:type="dcterms:W3CDTF">2025-12-10T09:58:13Z</dcterms:modified>
  <cp:revision>15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