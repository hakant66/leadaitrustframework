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36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99144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4545DA8-224D-418B-9943-0B611070194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Freeform 16"/>
          <p:cNvSpPr/>
          <p:nvPr/>
        </p:nvSpPr>
        <p:spPr>
          <a:xfrm>
            <a:off x="7828200" y="70920"/>
            <a:ext cx="1257480" cy="354600"/>
          </a:xfrm>
          <a:custGeom>
            <a:avLst/>
            <a:gdLst>
              <a:gd name="textAreaLeft" fmla="*/ 0 w 1257480"/>
              <a:gd name="textAreaRight" fmla="*/ 1260360 w 1257480"/>
              <a:gd name="textAreaTop" fmla="*/ 0 h 354600"/>
              <a:gd name="textAreaBottom" fmla="*/ 357480 h 354600"/>
            </a:gdLst>
            <a:ahLst/>
            <a:cxnLst/>
            <a:rect l="textAreaLeft" t="textAreaTop" r="textAreaRight" b="textAreaBottom"/>
            <a:pathLst>
              <a:path w="1760850" h="537567">
                <a:moveTo>
                  <a:pt x="0" y="0"/>
                </a:moveTo>
                <a:lnTo>
                  <a:pt x="1760850" y="0"/>
                </a:lnTo>
                <a:lnTo>
                  <a:pt x="1760850" y="537567"/>
                </a:lnTo>
                <a:lnTo>
                  <a:pt x="0" y="53756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alphaModFix amt="5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Freeform 15"/>
          <p:cNvSpPr/>
          <p:nvPr/>
        </p:nvSpPr>
        <p:spPr>
          <a:xfrm>
            <a:off x="0" y="5931000"/>
            <a:ext cx="1598040" cy="960840"/>
          </a:xfrm>
          <a:custGeom>
            <a:avLst/>
            <a:gdLst>
              <a:gd name="textAreaLeft" fmla="*/ 0 w 1598040"/>
              <a:gd name="textAreaRight" fmla="*/ 1600560 w 1598040"/>
              <a:gd name="textAreaTop" fmla="*/ 0 h 960840"/>
              <a:gd name="textAreaBottom" fmla="*/ 963360 h 960840"/>
            </a:gdLst>
            <a:ahLst/>
            <a:cxnLst/>
            <a:rect l="textAreaLeft" t="textAreaTop" r="textAreaRight" b="textAreaBottom"/>
            <a:pathLst>
              <a:path w="3805003" h="2027395">
                <a:moveTo>
                  <a:pt x="0" y="0"/>
                </a:moveTo>
                <a:lnTo>
                  <a:pt x="3805003" y="0"/>
                </a:lnTo>
                <a:lnTo>
                  <a:pt x="3805003" y="2027394"/>
                </a:lnTo>
                <a:lnTo>
                  <a:pt x="0" y="202739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5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dt" idx="4"/>
          </p:nvPr>
        </p:nvSpPr>
        <p:spPr>
          <a:xfrm>
            <a:off x="83916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300C730-0324-46FD-9579-CB02A478B4F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Freeform 16"/>
          <p:cNvSpPr/>
          <p:nvPr/>
        </p:nvSpPr>
        <p:spPr>
          <a:xfrm>
            <a:off x="7828200" y="70920"/>
            <a:ext cx="1257480" cy="354600"/>
          </a:xfrm>
          <a:custGeom>
            <a:avLst/>
            <a:gdLst>
              <a:gd name="textAreaLeft" fmla="*/ 0 w 1257480"/>
              <a:gd name="textAreaRight" fmla="*/ 1260360 w 1257480"/>
              <a:gd name="textAreaTop" fmla="*/ 0 h 354600"/>
              <a:gd name="textAreaBottom" fmla="*/ 357480 h 354600"/>
            </a:gdLst>
            <a:ahLst/>
            <a:cxnLst/>
            <a:rect l="textAreaLeft" t="textAreaTop" r="textAreaRight" b="textAreaBottom"/>
            <a:pathLst>
              <a:path w="1760850" h="537567">
                <a:moveTo>
                  <a:pt x="0" y="0"/>
                </a:moveTo>
                <a:lnTo>
                  <a:pt x="1760850" y="0"/>
                </a:lnTo>
                <a:lnTo>
                  <a:pt x="1760850" y="537567"/>
                </a:lnTo>
                <a:lnTo>
                  <a:pt x="0" y="53756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alphaModFix amt="5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Freeform 15"/>
          <p:cNvSpPr/>
          <p:nvPr/>
        </p:nvSpPr>
        <p:spPr>
          <a:xfrm>
            <a:off x="0" y="5931000"/>
            <a:ext cx="1598040" cy="960840"/>
          </a:xfrm>
          <a:custGeom>
            <a:avLst/>
            <a:gdLst>
              <a:gd name="textAreaLeft" fmla="*/ 0 w 1598040"/>
              <a:gd name="textAreaRight" fmla="*/ 1600560 w 1598040"/>
              <a:gd name="textAreaTop" fmla="*/ 0 h 960840"/>
              <a:gd name="textAreaBottom" fmla="*/ 963360 h 960840"/>
            </a:gdLst>
            <a:ahLst/>
            <a:cxnLst/>
            <a:rect l="textAreaLeft" t="textAreaTop" r="textAreaRight" b="textAreaBottom"/>
            <a:pathLst>
              <a:path w="3805003" h="2027395">
                <a:moveTo>
                  <a:pt x="0" y="0"/>
                </a:moveTo>
                <a:lnTo>
                  <a:pt x="3805003" y="0"/>
                </a:lnTo>
                <a:lnTo>
                  <a:pt x="3805003" y="2027394"/>
                </a:lnTo>
                <a:lnTo>
                  <a:pt x="0" y="202739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5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4920" cy="115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8400" cy="585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4920" cy="468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9144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52CED33-4EC9-4B8F-9EC0-1A82CE0EE8E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7828200" y="70920"/>
            <a:ext cx="1257480" cy="354600"/>
          </a:xfrm>
          <a:custGeom>
            <a:avLst/>
            <a:gdLst>
              <a:gd name="textAreaLeft" fmla="*/ 0 w 1257480"/>
              <a:gd name="textAreaRight" fmla="*/ 1260360 w 1257480"/>
              <a:gd name="textAreaTop" fmla="*/ 0 h 354600"/>
              <a:gd name="textAreaBottom" fmla="*/ 357480 h 354600"/>
            </a:gdLst>
            <a:ahLst/>
            <a:cxnLst/>
            <a:rect l="textAreaLeft" t="textAreaTop" r="textAreaRight" b="textAreaBottom"/>
            <a:pathLst>
              <a:path w="1760850" h="537567">
                <a:moveTo>
                  <a:pt x="0" y="0"/>
                </a:moveTo>
                <a:lnTo>
                  <a:pt x="1760850" y="0"/>
                </a:lnTo>
                <a:lnTo>
                  <a:pt x="1760850" y="537567"/>
                </a:lnTo>
                <a:lnTo>
                  <a:pt x="0" y="53756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alphaModFix amt="5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Freeform 15"/>
          <p:cNvSpPr/>
          <p:nvPr/>
        </p:nvSpPr>
        <p:spPr>
          <a:xfrm>
            <a:off x="0" y="5943600"/>
            <a:ext cx="1598040" cy="960840"/>
          </a:xfrm>
          <a:custGeom>
            <a:avLst/>
            <a:gdLst>
              <a:gd name="textAreaLeft" fmla="*/ 0 w 1598040"/>
              <a:gd name="textAreaRight" fmla="*/ 1600560 w 1598040"/>
              <a:gd name="textAreaTop" fmla="*/ 0 h 960840"/>
              <a:gd name="textAreaBottom" fmla="*/ 963360 h 960840"/>
            </a:gdLst>
            <a:ahLst/>
            <a:cxnLst/>
            <a:rect l="textAreaLeft" t="textAreaTop" r="textAreaRight" b="textAreaBottom"/>
            <a:pathLst>
              <a:path w="3805003" h="2027395">
                <a:moveTo>
                  <a:pt x="0" y="0"/>
                </a:moveTo>
                <a:lnTo>
                  <a:pt x="3805003" y="0"/>
                </a:lnTo>
                <a:lnTo>
                  <a:pt x="3805003" y="2027394"/>
                </a:lnTo>
                <a:lnTo>
                  <a:pt x="0" y="202739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5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36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6360" cy="452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0"/>
          </p:nvPr>
        </p:nvSpPr>
        <p:spPr>
          <a:xfrm>
            <a:off x="83916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A1222F4-BABE-4878-9B9A-3FC10AC12A3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Freeform 16"/>
          <p:cNvSpPr/>
          <p:nvPr/>
        </p:nvSpPr>
        <p:spPr>
          <a:xfrm>
            <a:off x="7828200" y="70920"/>
            <a:ext cx="1257480" cy="354600"/>
          </a:xfrm>
          <a:custGeom>
            <a:avLst/>
            <a:gdLst>
              <a:gd name="textAreaLeft" fmla="*/ 0 w 1257480"/>
              <a:gd name="textAreaRight" fmla="*/ 1260360 w 1257480"/>
              <a:gd name="textAreaTop" fmla="*/ 0 h 354600"/>
              <a:gd name="textAreaBottom" fmla="*/ 357480 h 354600"/>
            </a:gdLst>
            <a:ahLst/>
            <a:cxnLst/>
            <a:rect l="textAreaLeft" t="textAreaTop" r="textAreaRight" b="textAreaBottom"/>
            <a:pathLst>
              <a:path w="1760850" h="537567">
                <a:moveTo>
                  <a:pt x="0" y="0"/>
                </a:moveTo>
                <a:lnTo>
                  <a:pt x="1760850" y="0"/>
                </a:lnTo>
                <a:lnTo>
                  <a:pt x="1760850" y="537567"/>
                </a:lnTo>
                <a:lnTo>
                  <a:pt x="0" y="53756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alphaModFix amt="5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Freeform 15"/>
          <p:cNvSpPr/>
          <p:nvPr/>
        </p:nvSpPr>
        <p:spPr>
          <a:xfrm>
            <a:off x="0" y="5943600"/>
            <a:ext cx="1598040" cy="960840"/>
          </a:xfrm>
          <a:custGeom>
            <a:avLst/>
            <a:gdLst>
              <a:gd name="textAreaLeft" fmla="*/ 0 w 1598040"/>
              <a:gd name="textAreaRight" fmla="*/ 1600560 w 1598040"/>
              <a:gd name="textAreaTop" fmla="*/ 0 h 960840"/>
              <a:gd name="textAreaBottom" fmla="*/ 963360 h 960840"/>
            </a:gdLst>
            <a:ahLst/>
            <a:cxnLst/>
            <a:rect l="textAreaLeft" t="textAreaTop" r="textAreaRight" b="textAreaBottom"/>
            <a:pathLst>
              <a:path w="3805003" h="2027395">
                <a:moveTo>
                  <a:pt x="0" y="0"/>
                </a:moveTo>
                <a:lnTo>
                  <a:pt x="3805003" y="0"/>
                </a:lnTo>
                <a:lnTo>
                  <a:pt x="3805003" y="2027394"/>
                </a:lnTo>
                <a:lnTo>
                  <a:pt x="0" y="202739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5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3160" cy="56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3160" cy="4111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3160" cy="80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3"/>
          </p:nvPr>
        </p:nvSpPr>
        <p:spPr>
          <a:xfrm>
            <a:off x="9144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8F45D01-174D-40F5-B247-137F8C8EAFB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Freeform 16"/>
          <p:cNvSpPr/>
          <p:nvPr/>
        </p:nvSpPr>
        <p:spPr>
          <a:xfrm>
            <a:off x="7828200" y="70920"/>
            <a:ext cx="1257480" cy="354600"/>
          </a:xfrm>
          <a:custGeom>
            <a:avLst/>
            <a:gdLst>
              <a:gd name="textAreaLeft" fmla="*/ 0 w 1257480"/>
              <a:gd name="textAreaRight" fmla="*/ 1260360 w 1257480"/>
              <a:gd name="textAreaTop" fmla="*/ 0 h 354600"/>
              <a:gd name="textAreaBottom" fmla="*/ 357480 h 354600"/>
            </a:gdLst>
            <a:ahLst/>
            <a:cxnLst/>
            <a:rect l="textAreaLeft" t="textAreaTop" r="textAreaRight" b="textAreaBottom"/>
            <a:pathLst>
              <a:path w="1760850" h="537567">
                <a:moveTo>
                  <a:pt x="0" y="0"/>
                </a:moveTo>
                <a:lnTo>
                  <a:pt x="1760850" y="0"/>
                </a:lnTo>
                <a:lnTo>
                  <a:pt x="1760850" y="537567"/>
                </a:lnTo>
                <a:lnTo>
                  <a:pt x="0" y="53756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alphaModFix amt="5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Freeform 15"/>
          <p:cNvSpPr/>
          <p:nvPr/>
        </p:nvSpPr>
        <p:spPr>
          <a:xfrm>
            <a:off x="0" y="5943600"/>
            <a:ext cx="1598040" cy="960840"/>
          </a:xfrm>
          <a:custGeom>
            <a:avLst/>
            <a:gdLst>
              <a:gd name="textAreaLeft" fmla="*/ 0 w 1598040"/>
              <a:gd name="textAreaRight" fmla="*/ 1600560 w 1598040"/>
              <a:gd name="textAreaTop" fmla="*/ 0 h 960840"/>
              <a:gd name="textAreaBottom" fmla="*/ 963360 h 960840"/>
            </a:gdLst>
            <a:ahLst/>
            <a:cxnLst/>
            <a:rect l="textAreaLeft" t="textAreaTop" r="textAreaRight" b="textAreaBottom"/>
            <a:pathLst>
              <a:path w="3805003" h="2027395">
                <a:moveTo>
                  <a:pt x="0" y="0"/>
                </a:moveTo>
                <a:lnTo>
                  <a:pt x="3805003" y="0"/>
                </a:lnTo>
                <a:lnTo>
                  <a:pt x="3805003" y="2027394"/>
                </a:lnTo>
                <a:lnTo>
                  <a:pt x="0" y="202739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5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9160" cy="146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dt" idx="16"/>
          </p:nvPr>
        </p:nvSpPr>
        <p:spPr>
          <a:xfrm>
            <a:off x="9144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A9377CE-EAFE-41D4-B3EA-4CABF5165A7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63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Freeform 16"/>
          <p:cNvSpPr/>
          <p:nvPr/>
        </p:nvSpPr>
        <p:spPr>
          <a:xfrm>
            <a:off x="7828200" y="70560"/>
            <a:ext cx="1257480" cy="354600"/>
          </a:xfrm>
          <a:custGeom>
            <a:avLst/>
            <a:gdLst>
              <a:gd name="textAreaLeft" fmla="*/ 0 w 1257480"/>
              <a:gd name="textAreaRight" fmla="*/ 1260360 w 1257480"/>
              <a:gd name="textAreaTop" fmla="*/ 0 h 354600"/>
              <a:gd name="textAreaBottom" fmla="*/ 357480 h 354600"/>
            </a:gdLst>
            <a:ahLst/>
            <a:cxnLst/>
            <a:rect l="textAreaLeft" t="textAreaTop" r="textAreaRight" b="textAreaBottom"/>
            <a:pathLst>
              <a:path w="1760850" h="537567">
                <a:moveTo>
                  <a:pt x="0" y="0"/>
                </a:moveTo>
                <a:lnTo>
                  <a:pt x="1760850" y="0"/>
                </a:lnTo>
                <a:lnTo>
                  <a:pt x="1760850" y="537567"/>
                </a:lnTo>
                <a:lnTo>
                  <a:pt x="0" y="53756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alphaModFix amt="5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Freeform 16"/>
          <p:cNvSpPr/>
          <p:nvPr/>
        </p:nvSpPr>
        <p:spPr>
          <a:xfrm>
            <a:off x="7828200" y="70920"/>
            <a:ext cx="1257480" cy="354600"/>
          </a:xfrm>
          <a:custGeom>
            <a:avLst/>
            <a:gdLst>
              <a:gd name="textAreaLeft" fmla="*/ 0 w 1257480"/>
              <a:gd name="textAreaRight" fmla="*/ 1260360 w 1257480"/>
              <a:gd name="textAreaTop" fmla="*/ 0 h 354600"/>
              <a:gd name="textAreaBottom" fmla="*/ 357480 h 354600"/>
            </a:gdLst>
            <a:ahLst/>
            <a:cxnLst/>
            <a:rect l="textAreaLeft" t="textAreaTop" r="textAreaRight" b="textAreaBottom"/>
            <a:pathLst>
              <a:path w="1760850" h="537567">
                <a:moveTo>
                  <a:pt x="0" y="0"/>
                </a:moveTo>
                <a:lnTo>
                  <a:pt x="1760850" y="0"/>
                </a:lnTo>
                <a:lnTo>
                  <a:pt x="1760850" y="537567"/>
                </a:lnTo>
                <a:lnTo>
                  <a:pt x="0" y="53756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5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Freeform 15"/>
          <p:cNvSpPr/>
          <p:nvPr/>
        </p:nvSpPr>
        <p:spPr>
          <a:xfrm>
            <a:off x="0" y="5943600"/>
            <a:ext cx="1598040" cy="960840"/>
          </a:xfrm>
          <a:custGeom>
            <a:avLst/>
            <a:gdLst>
              <a:gd name="textAreaLeft" fmla="*/ 0 w 1598040"/>
              <a:gd name="textAreaRight" fmla="*/ 1600560 w 1598040"/>
              <a:gd name="textAreaTop" fmla="*/ 0 h 960840"/>
              <a:gd name="textAreaBottom" fmla="*/ 963360 h 960840"/>
            </a:gdLst>
            <a:ahLst/>
            <a:cxnLst/>
            <a:rect l="textAreaLeft" t="textAreaTop" r="textAreaRight" b="textAreaBottom"/>
            <a:pathLst>
              <a:path w="3805003" h="2027395">
                <a:moveTo>
                  <a:pt x="0" y="0"/>
                </a:moveTo>
                <a:lnTo>
                  <a:pt x="3805003" y="0"/>
                </a:lnTo>
                <a:lnTo>
                  <a:pt x="3805003" y="2027394"/>
                </a:lnTo>
                <a:lnTo>
                  <a:pt x="0" y="202739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>
              <a:alphaModFix amt="5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36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6360" cy="452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19"/>
          </p:nvPr>
        </p:nvSpPr>
        <p:spPr>
          <a:xfrm>
            <a:off x="9144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E584F2E-A072-4463-AEF6-6ABA9D5CA64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Freeform 15"/>
          <p:cNvSpPr/>
          <p:nvPr/>
        </p:nvSpPr>
        <p:spPr>
          <a:xfrm>
            <a:off x="0" y="5943600"/>
            <a:ext cx="1598040" cy="960840"/>
          </a:xfrm>
          <a:custGeom>
            <a:avLst/>
            <a:gdLst>
              <a:gd name="textAreaLeft" fmla="*/ 0 w 1598040"/>
              <a:gd name="textAreaRight" fmla="*/ 1600560 w 1598040"/>
              <a:gd name="textAreaTop" fmla="*/ 0 h 960840"/>
              <a:gd name="textAreaBottom" fmla="*/ 963360 h 960840"/>
            </a:gdLst>
            <a:ahLst/>
            <a:cxnLst/>
            <a:rect l="textAreaLeft" t="textAreaTop" r="textAreaRight" b="textAreaBottom"/>
            <a:pathLst>
              <a:path w="3805003" h="2027395">
                <a:moveTo>
                  <a:pt x="0" y="0"/>
                </a:moveTo>
                <a:lnTo>
                  <a:pt x="3805003" y="0"/>
                </a:lnTo>
                <a:lnTo>
                  <a:pt x="3805003" y="2027394"/>
                </a:lnTo>
                <a:lnTo>
                  <a:pt x="0" y="202739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alphaModFix amt="5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4160" cy="584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6680" cy="584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22"/>
          </p:nvPr>
        </p:nvSpPr>
        <p:spPr>
          <a:xfrm>
            <a:off x="9144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8A70081-46EA-4458-BEDC-EECDE818F70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Freeform 15"/>
          <p:cNvSpPr/>
          <p:nvPr/>
        </p:nvSpPr>
        <p:spPr>
          <a:xfrm>
            <a:off x="0" y="5943600"/>
            <a:ext cx="1598040" cy="960840"/>
          </a:xfrm>
          <a:custGeom>
            <a:avLst/>
            <a:gdLst>
              <a:gd name="textAreaLeft" fmla="*/ 0 w 1598040"/>
              <a:gd name="textAreaRight" fmla="*/ 1600560 w 1598040"/>
              <a:gd name="textAreaTop" fmla="*/ 0 h 960840"/>
              <a:gd name="textAreaBottom" fmla="*/ 963360 h 960840"/>
            </a:gdLst>
            <a:ahLst/>
            <a:cxnLst/>
            <a:rect l="textAreaLeft" t="textAreaTop" r="textAreaRight" b="textAreaBottom"/>
            <a:pathLst>
              <a:path w="3805003" h="2027395">
                <a:moveTo>
                  <a:pt x="0" y="0"/>
                </a:moveTo>
                <a:lnTo>
                  <a:pt x="3805003" y="0"/>
                </a:lnTo>
                <a:lnTo>
                  <a:pt x="3805003" y="2027394"/>
                </a:lnTo>
                <a:lnTo>
                  <a:pt x="0" y="202739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alphaModFix amt="5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36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6360" cy="452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25"/>
          </p:nvPr>
        </p:nvSpPr>
        <p:spPr>
          <a:xfrm>
            <a:off x="83916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1CC4C2E-C370-4F81-972B-C5D3A760478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Freeform 16"/>
          <p:cNvSpPr/>
          <p:nvPr/>
        </p:nvSpPr>
        <p:spPr>
          <a:xfrm>
            <a:off x="7828200" y="70920"/>
            <a:ext cx="1257480" cy="354600"/>
          </a:xfrm>
          <a:custGeom>
            <a:avLst/>
            <a:gdLst>
              <a:gd name="textAreaLeft" fmla="*/ 0 w 1257480"/>
              <a:gd name="textAreaRight" fmla="*/ 1260360 w 1257480"/>
              <a:gd name="textAreaTop" fmla="*/ 0 h 354600"/>
              <a:gd name="textAreaBottom" fmla="*/ 357480 h 354600"/>
            </a:gdLst>
            <a:ahLst/>
            <a:cxnLst/>
            <a:rect l="textAreaLeft" t="textAreaTop" r="textAreaRight" b="textAreaBottom"/>
            <a:pathLst>
              <a:path w="1760850" h="537567">
                <a:moveTo>
                  <a:pt x="0" y="0"/>
                </a:moveTo>
                <a:lnTo>
                  <a:pt x="1760850" y="0"/>
                </a:lnTo>
                <a:lnTo>
                  <a:pt x="1760850" y="537567"/>
                </a:lnTo>
                <a:lnTo>
                  <a:pt x="0" y="53756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alphaModFix amt="5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Freeform 15"/>
          <p:cNvSpPr/>
          <p:nvPr/>
        </p:nvSpPr>
        <p:spPr>
          <a:xfrm>
            <a:off x="0" y="5943600"/>
            <a:ext cx="1598040" cy="960840"/>
          </a:xfrm>
          <a:custGeom>
            <a:avLst/>
            <a:gdLst>
              <a:gd name="textAreaLeft" fmla="*/ 0 w 1598040"/>
              <a:gd name="textAreaRight" fmla="*/ 1600560 w 1598040"/>
              <a:gd name="textAreaTop" fmla="*/ 0 h 960840"/>
              <a:gd name="textAreaBottom" fmla="*/ 963360 h 960840"/>
            </a:gdLst>
            <a:ahLst/>
            <a:cxnLst/>
            <a:rect l="textAreaLeft" t="textAreaTop" r="textAreaRight" b="textAreaBottom"/>
            <a:pathLst>
              <a:path w="3805003" h="2027395">
                <a:moveTo>
                  <a:pt x="0" y="0"/>
                </a:moveTo>
                <a:lnTo>
                  <a:pt x="3805003" y="0"/>
                </a:lnTo>
                <a:lnTo>
                  <a:pt x="3805003" y="2027394"/>
                </a:lnTo>
                <a:lnTo>
                  <a:pt x="0" y="202739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5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9160" cy="135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9160" cy="149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dt" idx="28"/>
          </p:nvPr>
        </p:nvSpPr>
        <p:spPr>
          <a:xfrm>
            <a:off x="9144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D5E9D2A-FA51-4CB7-B553-6C38D546097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Freeform 16"/>
          <p:cNvSpPr/>
          <p:nvPr/>
        </p:nvSpPr>
        <p:spPr>
          <a:xfrm>
            <a:off x="7828200" y="70920"/>
            <a:ext cx="1257480" cy="354600"/>
          </a:xfrm>
          <a:custGeom>
            <a:avLst/>
            <a:gdLst>
              <a:gd name="textAreaLeft" fmla="*/ 0 w 1257480"/>
              <a:gd name="textAreaRight" fmla="*/ 1260360 w 1257480"/>
              <a:gd name="textAreaTop" fmla="*/ 0 h 354600"/>
              <a:gd name="textAreaBottom" fmla="*/ 357480 h 354600"/>
            </a:gdLst>
            <a:ahLst/>
            <a:cxnLst/>
            <a:rect l="textAreaLeft" t="textAreaTop" r="textAreaRight" b="textAreaBottom"/>
            <a:pathLst>
              <a:path w="1760850" h="537567">
                <a:moveTo>
                  <a:pt x="0" y="0"/>
                </a:moveTo>
                <a:lnTo>
                  <a:pt x="1760850" y="0"/>
                </a:lnTo>
                <a:lnTo>
                  <a:pt x="1760850" y="537567"/>
                </a:lnTo>
                <a:lnTo>
                  <a:pt x="0" y="53756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alphaModFix amt="5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Freeform 15"/>
          <p:cNvSpPr/>
          <p:nvPr/>
        </p:nvSpPr>
        <p:spPr>
          <a:xfrm>
            <a:off x="0" y="5943600"/>
            <a:ext cx="1598040" cy="960840"/>
          </a:xfrm>
          <a:custGeom>
            <a:avLst/>
            <a:gdLst>
              <a:gd name="textAreaLeft" fmla="*/ 0 w 1598040"/>
              <a:gd name="textAreaRight" fmla="*/ 1600560 w 1598040"/>
              <a:gd name="textAreaTop" fmla="*/ 0 h 960840"/>
              <a:gd name="textAreaBottom" fmla="*/ 963360 h 960840"/>
            </a:gdLst>
            <a:ahLst/>
            <a:cxnLst/>
            <a:rect l="textAreaLeft" t="textAreaTop" r="textAreaRight" b="textAreaBottom"/>
            <a:pathLst>
              <a:path w="3805003" h="2027395">
                <a:moveTo>
                  <a:pt x="0" y="0"/>
                </a:moveTo>
                <a:lnTo>
                  <a:pt x="3805003" y="0"/>
                </a:lnTo>
                <a:lnTo>
                  <a:pt x="3805003" y="2027394"/>
                </a:lnTo>
                <a:lnTo>
                  <a:pt x="0" y="202739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5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36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5240" cy="452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5240" cy="452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dt" idx="31"/>
          </p:nvPr>
        </p:nvSpPr>
        <p:spPr>
          <a:xfrm>
            <a:off x="9144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4EE3414-7795-4208-9A72-BD2C3E4BCDC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Freeform 16"/>
          <p:cNvSpPr/>
          <p:nvPr/>
        </p:nvSpPr>
        <p:spPr>
          <a:xfrm>
            <a:off x="7828200" y="70920"/>
            <a:ext cx="1257480" cy="354600"/>
          </a:xfrm>
          <a:custGeom>
            <a:avLst/>
            <a:gdLst>
              <a:gd name="textAreaLeft" fmla="*/ 0 w 1257480"/>
              <a:gd name="textAreaRight" fmla="*/ 1260360 w 1257480"/>
              <a:gd name="textAreaTop" fmla="*/ 0 h 354600"/>
              <a:gd name="textAreaBottom" fmla="*/ 357480 h 354600"/>
            </a:gdLst>
            <a:ahLst/>
            <a:cxnLst/>
            <a:rect l="textAreaLeft" t="textAreaTop" r="textAreaRight" b="textAreaBottom"/>
            <a:pathLst>
              <a:path w="1760850" h="537567">
                <a:moveTo>
                  <a:pt x="0" y="0"/>
                </a:moveTo>
                <a:lnTo>
                  <a:pt x="1760850" y="0"/>
                </a:lnTo>
                <a:lnTo>
                  <a:pt x="1760850" y="537567"/>
                </a:lnTo>
                <a:lnTo>
                  <a:pt x="0" y="53756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alphaModFix amt="5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Freeform 15"/>
          <p:cNvSpPr/>
          <p:nvPr/>
        </p:nvSpPr>
        <p:spPr>
          <a:xfrm>
            <a:off x="0" y="5943600"/>
            <a:ext cx="1598040" cy="960840"/>
          </a:xfrm>
          <a:custGeom>
            <a:avLst/>
            <a:gdLst>
              <a:gd name="textAreaLeft" fmla="*/ 0 w 1598040"/>
              <a:gd name="textAreaRight" fmla="*/ 1600560 w 1598040"/>
              <a:gd name="textAreaTop" fmla="*/ 0 h 960840"/>
              <a:gd name="textAreaBottom" fmla="*/ 963360 h 960840"/>
            </a:gdLst>
            <a:ahLst/>
            <a:cxnLst/>
            <a:rect l="textAreaLeft" t="textAreaTop" r="textAreaRight" b="textAreaBottom"/>
            <a:pathLst>
              <a:path w="3805003" h="2027395">
                <a:moveTo>
                  <a:pt x="0" y="0"/>
                </a:moveTo>
                <a:lnTo>
                  <a:pt x="3805003" y="0"/>
                </a:lnTo>
                <a:lnTo>
                  <a:pt x="3805003" y="2027394"/>
                </a:lnTo>
                <a:lnTo>
                  <a:pt x="0" y="202739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5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36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7040" cy="63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7040" cy="39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8480" cy="63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8480" cy="39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dt" idx="34"/>
          </p:nvPr>
        </p:nvSpPr>
        <p:spPr>
          <a:xfrm>
            <a:off x="83916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ftr" idx="35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8"/>
          <p:cNvSpPr>
            <a:spLocks noGrp="1"/>
          </p:cNvSpPr>
          <p:nvPr>
            <p:ph type="sldNum" idx="36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A2BAF16-5151-4783-A93E-591F7CA29F8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Freeform 16"/>
          <p:cNvSpPr/>
          <p:nvPr/>
        </p:nvSpPr>
        <p:spPr>
          <a:xfrm>
            <a:off x="7828200" y="70920"/>
            <a:ext cx="1257480" cy="354600"/>
          </a:xfrm>
          <a:custGeom>
            <a:avLst/>
            <a:gdLst>
              <a:gd name="textAreaLeft" fmla="*/ 0 w 1257480"/>
              <a:gd name="textAreaRight" fmla="*/ 1260360 w 1257480"/>
              <a:gd name="textAreaTop" fmla="*/ 0 h 354600"/>
              <a:gd name="textAreaBottom" fmla="*/ 357480 h 354600"/>
            </a:gdLst>
            <a:ahLst/>
            <a:cxnLst/>
            <a:rect l="textAreaLeft" t="textAreaTop" r="textAreaRight" b="textAreaBottom"/>
            <a:pathLst>
              <a:path w="1760850" h="537567">
                <a:moveTo>
                  <a:pt x="0" y="0"/>
                </a:moveTo>
                <a:lnTo>
                  <a:pt x="1760850" y="0"/>
                </a:lnTo>
                <a:lnTo>
                  <a:pt x="1760850" y="537567"/>
                </a:lnTo>
                <a:lnTo>
                  <a:pt x="0" y="53756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alphaModFix amt="5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Freeform 15"/>
          <p:cNvSpPr/>
          <p:nvPr/>
        </p:nvSpPr>
        <p:spPr>
          <a:xfrm>
            <a:off x="0" y="5943600"/>
            <a:ext cx="1598040" cy="960840"/>
          </a:xfrm>
          <a:custGeom>
            <a:avLst/>
            <a:gdLst>
              <a:gd name="textAreaLeft" fmla="*/ 0 w 1598040"/>
              <a:gd name="textAreaRight" fmla="*/ 1600560 w 1598040"/>
              <a:gd name="textAreaTop" fmla="*/ 0 h 960840"/>
              <a:gd name="textAreaBottom" fmla="*/ 963360 h 960840"/>
            </a:gdLst>
            <a:ahLst/>
            <a:cxnLst/>
            <a:rect l="textAreaLeft" t="textAreaTop" r="textAreaRight" b="textAreaBottom"/>
            <a:pathLst>
              <a:path w="3805003" h="2027395">
                <a:moveTo>
                  <a:pt x="0" y="0"/>
                </a:moveTo>
                <a:lnTo>
                  <a:pt x="3805003" y="0"/>
                </a:lnTo>
                <a:lnTo>
                  <a:pt x="3805003" y="2027394"/>
                </a:lnTo>
                <a:lnTo>
                  <a:pt x="0" y="202739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 amt="5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86160" y="816480"/>
            <a:ext cx="7769160" cy="146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LeadAI Trust Framework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ubTitle"/>
          </p:nvPr>
        </p:nvSpPr>
        <p:spPr>
          <a:xfrm>
            <a:off x="1371600" y="2286000"/>
            <a:ext cx="6397560" cy="174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Automated AI Governance &amp; Compliance Platform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From Regulations to Trust Scores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36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Executive Summary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5240" cy="452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 Challenge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Multiple Regulations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Complex Requirements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Evidence Management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Continuous Monitoring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4648320" y="1600200"/>
            <a:ext cx="4035240" cy="452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 Solution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Automated Governance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Evidence-Centric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Continuous Control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Intelligent Reporting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720"/>
            <a:ext cx="822636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Process Overview - The Big Picture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914400" y="1143360"/>
            <a:ext cx="7998480" cy="548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spcAft>
                <a:spcPts val="1199"/>
              </a:spcAft>
              <a:buClr>
                <a:srgbClr val="000000"/>
              </a:buClr>
              <a:buFont typeface="Arial"/>
              <a:buAutoNum type="arabicParenR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Entity Assessment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spcAft>
                <a:spcPts val="1199"/>
              </a:spcAft>
              <a:buClr>
                <a:srgbClr val="000000"/>
              </a:buClr>
              <a:buFont typeface="Arial"/>
              <a:buAutoNum type="arabicParenR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EU AI Act, ISO 42001, NIST AI RMF → Regulatory Input Funnel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spcAft>
                <a:spcPts val="1199"/>
              </a:spcAft>
              <a:buClr>
                <a:srgbClr val="000000"/>
              </a:buClr>
              <a:buFont typeface="Arial"/>
              <a:buAutoNum type="arabicParenR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Policy &amp; Guardrail Engine → Policies, Guardrails, KPIs, Controls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spcAft>
                <a:spcPts val="1199"/>
              </a:spcAft>
              <a:buClr>
                <a:srgbClr val="000000"/>
              </a:buClr>
              <a:buFont typeface="Arial"/>
              <a:buAutoNum type="arabicParenR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Evidence Collection → Manual uploads + Automatic integrations (Jira, DB Tables, Asana, etc.)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spcAft>
                <a:spcPts val="1199"/>
              </a:spcAft>
              <a:buClr>
                <a:srgbClr val="000000"/>
              </a:buClr>
              <a:buFont typeface="Arial"/>
              <a:buAutoNum type="arabicParenR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Evidence Vault → Centralized storage with integrity verification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spcAft>
                <a:spcPts val="1199"/>
              </a:spcAft>
              <a:buClr>
                <a:srgbClr val="000000"/>
              </a:buClr>
              <a:buFont typeface="Arial"/>
              <a:buAutoNum type="arabicParenR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Control &amp; Audit Process → Human review + AI assistance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spcAft>
                <a:spcPts val="1199"/>
              </a:spcAft>
              <a:buClr>
                <a:srgbClr val="000000"/>
              </a:buClr>
              <a:buFont typeface="Arial"/>
              <a:buAutoNum type="arabicParenR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Artifact &amp; Scoring Engine → Trust scores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641"/>
              </a:spcBef>
              <a:spcAft>
                <a:spcPts val="119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Monitoring &amp; Reporting → Dashboards + Executive reports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641"/>
              </a:spcBef>
              <a:spcAft>
                <a:spcPts val="119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 Unicode MS"/>
              </a:rPr>
              <a:t>Continuous Improvement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230040" y="228600"/>
            <a:ext cx="822636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Step 1: Entity Regulatory Needs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" descr=""/>
          <p:cNvPicPr/>
          <p:nvPr/>
        </p:nvPicPr>
        <p:blipFill>
          <a:blip r:embed="rId1">
            <a:alphaModFix amt="50000"/>
          </a:blip>
          <a:stretch/>
        </p:blipFill>
        <p:spPr>
          <a:xfrm>
            <a:off x="1600200" y="1143000"/>
            <a:ext cx="5486400" cy="548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636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Step 2: Validate Compliance req.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1143000" y="1371600"/>
            <a:ext cx="7540560" cy="731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EU AI Act: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High-Risk AI Systems (Annex III)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Transparency Requirements (Article 50)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Data Governance (Article 10)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ISO/IEC 42001: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Organizational Context (Clause 4)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Planning &amp; Operation (Clauses 6-8)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Performance Evaluation (Clause 9)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NIST AI RMF: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 Govern, Map, Measure, Manage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636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Step 3: Metric, Action &amp; Policy 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1371600" y="1145160"/>
            <a:ext cx="7540920" cy="548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2400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Entity Setup (The Organizational Context)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2400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AI Scope (The Boundary)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2400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AI Projects (The Pipeline)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2400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AI Systems (The Inventory)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2400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KPI definition (The Metric)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2400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Control values (The Action)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2400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Policy generation (The Mandate)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2400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Evidence capture (The Proof)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32400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Automatic mapping: Compliance Requirements → Policies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32400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Policy templates and customization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32400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Automatic Guardrail rule definitions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32400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Hard gates (non-negotiable)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32400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Soft gates (warnings)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36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Step 4: Evidence Collection Layer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5240" cy="452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Manual Collection: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Direct file uploads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Metadata entry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Control linking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Status tracking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4648320" y="1600200"/>
            <a:ext cx="4035240" cy="452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Automatic Integration: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Jira sync (requirements, risks, tests)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REST API endpoints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Scheduled syncs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Webhook support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636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Step 5: Evidence Vault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1143000" y="1371240"/>
            <a:ext cx="7540560" cy="452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Storage: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Centralized repository (S3-compatible)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Version control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Retention policies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Integrity Verification: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  SHA-256 hashing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  Hash verification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  Digital signatures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Metadata Management: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  Rich metadata (project, control, status)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  Search &amp; discovery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  Relationship linking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36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Step 6: Control &amp; Audit Process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5240" cy="452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AI-Assisted Review: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Automated analysis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Compliance checking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Anomaly detection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Recommendations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4648320" y="1600200"/>
            <a:ext cx="4035240" cy="452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Human Decision: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Evidence verification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Challenge process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Approval workflow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Rejection handling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36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Step 7: Artifact &amp; Trust Engine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457480" cy="388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74"/>
              </a:spcBef>
              <a:spcAft>
                <a:spcPts val="632"/>
              </a:spcAft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Arial Unicode MS"/>
              </a:rPr>
              <a:t>Accepted Evidence 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 → 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Artifact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74"/>
              </a:spcBef>
              <a:spcAft>
                <a:spcPts val="632"/>
              </a:spcAft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 Narrow"/>
                <a:ea typeface="Arial Unicode MS"/>
              </a:rPr>
              <a:t>Regulation → KPI → Control → Policy → Evidence → Artifact 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Arial Narrow"/>
                <a:ea typeface="Arial Unicode MS"/>
              </a:rPr>
              <a:t>→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 Narrow"/>
                <a:ea typeface="Arial Unicode MS"/>
              </a:rPr>
              <a:t>Score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74"/>
              </a:spcBef>
              <a:spcAft>
                <a:spcPts val="632"/>
              </a:spcAft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74"/>
              </a:spcBef>
              <a:spcAft>
                <a:spcPts val="632"/>
              </a:spcAft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Trust Scoring: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0" defTabSz="457200">
              <a:lnSpc>
                <a:spcPct val="100000"/>
              </a:lnSpc>
              <a:spcBef>
                <a:spcPts val="74"/>
              </a:spcBef>
              <a:spcAft>
                <a:spcPts val="632"/>
              </a:spcAft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3 Trust Axes: Safety, Compliance, Provenance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74"/>
              </a:spcBef>
              <a:spcAft>
                <a:spcPts val="632"/>
              </a:spcAft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74"/>
              </a:spcBef>
              <a:spcAft>
                <a:spcPts val="632"/>
              </a:spcAft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Provenance Levels (Origin trust):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74"/>
              </a:spcBef>
              <a:spcAft>
                <a:spcPts val="632"/>
              </a:spcAft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P0 (Fail) to P3 (Excellent)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228600" y="274680"/>
            <a:ext cx="868428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Full Lifecycle Monitoring &amp; Reporting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5240" cy="452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Real-Time Dashboard: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Entity-level view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Project-level view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Portfolio-level view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Trust scorecards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KPI trends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Alert summary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4648320" y="1600200"/>
            <a:ext cx="4035240" cy="452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Executive Reporting: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Template-based reports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AI-generated summaries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Delivery schedules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Multiple formats (PDF, Excel, PPT)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228600" y="274680"/>
            <a:ext cx="8683920" cy="86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Recursive Process - Continuous Improvement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457200" y="1143000"/>
            <a:ext cx="8226360" cy="452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 process is recursive and continuous: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1. Regulatory Updates → New/updated requirements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 Policy Refresh → Update policies and guardrails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 Evidence Re-collection → Gather new evidence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 Re-audit &amp; Re-scoring → Verify and recalculate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 Monitoring &amp; Alerts → Track changes and anomalies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 Reporting &amp; Feedback → Generate insights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Frequency: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Daily: Evidence collection, score updates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Weekly: Evidence audit, compliance checks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Monthly: Policy review, KPI assessment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Quarterly: Regulatory updates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Annually: Comprehensive audit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36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Key Benefits &amp; Value Proposition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1143000" y="1371600"/>
            <a:ext cx="7997760" cy="543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For Compliance Teams: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  Automated mapping: Regulations → Policies → Metrics → Actions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  Evidence management: Centralized, verified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  Audit trail: Complete traceability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For Risk Management: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  Risk visibility: Comprehensive risk register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  Risk scoring: Quantified risk levels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  Trend analysis: Risk evolution tracking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For Executives: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 Executive dashboards: High-level visibility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 Automated reporting: AI-powered insights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Aft>
                <a:spcPts val="34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 Trust and alerts: Simple, actionable metrics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36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Conclusion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189440"/>
            <a:ext cx="8226360" cy="452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LeadAI Trust Framework Delivers: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✅ Automated Governance: From regulations to policies to KPIs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✅ Evidence Management: Centralized, verified, traceable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✅ Continuous Scoring: Real-time trust and compliance scores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✅ Intelligent Reporting: AI-powered executive insights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✅ Recursive Process: Continuous improvement and monitoring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Key Differentiators: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  • Regulatory-Agnostic: Supports multiple frameworks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  • Evidence-Centric: Built around evidence verification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  • Human + AI: Combines AI assistance with human judgment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457200">
              <a:lnSpc>
                <a:spcPct val="100000"/>
              </a:lnSpc>
              <a:spcAft>
                <a:spcPts val="349"/>
              </a:spcAft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  • Recursive: Self-improving, continuous process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" descr=""/>
          <p:cNvPicPr/>
          <p:nvPr/>
        </p:nvPicPr>
        <p:blipFill>
          <a:blip r:embed="rId1"/>
          <a:stretch/>
        </p:blipFill>
        <p:spPr>
          <a:xfrm>
            <a:off x="360" y="788040"/>
            <a:ext cx="9142200" cy="515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PlaceHolder 4"/>
          <p:cNvSpPr/>
          <p:nvPr/>
        </p:nvSpPr>
        <p:spPr>
          <a:xfrm>
            <a:off x="0" y="1800"/>
            <a:ext cx="9142560" cy="11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720"/>
            <a:ext cx="822636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Detailed Process Overview 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1371600" y="915840"/>
            <a:ext cx="7313760" cy="548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357"/>
              </a:spcBef>
              <a:spcAft>
                <a:spcPts val="916"/>
              </a:spcAft>
              <a:buClr>
                <a:srgbClr val="000000"/>
              </a:buClr>
              <a:buFont typeface="Arial"/>
              <a:buAutoNum type="arabicParenR"/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AI Readiness check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57"/>
              </a:spcBef>
              <a:spcAft>
                <a:spcPts val="916"/>
              </a:spcAft>
              <a:buClr>
                <a:srgbClr val="000000"/>
              </a:buClr>
              <a:buFont typeface="Arial"/>
              <a:buAutoNum type="arabicParenR"/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Entity Legal status check (EU AI Act, ISO 42001, NIST AI RMF </a:t>
            </a: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→ Regulatory Input Funnel 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57"/>
              </a:spcBef>
              <a:spcAft>
                <a:spcPts val="916"/>
              </a:spcAft>
              <a:buClr>
                <a:srgbClr val="000000"/>
              </a:buClr>
              <a:buFont typeface="Arial"/>
              <a:buAutoNum type="arabicParenR"/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Onboard Entity =&gt; Entity created, obligations found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57"/>
              </a:spcBef>
              <a:spcAft>
                <a:spcPts val="916"/>
              </a:spcAft>
              <a:buClr>
                <a:srgbClr val="000000"/>
              </a:buClr>
              <a:buFont typeface="Arial"/>
              <a:buAutoNum type="arabicParenR"/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AIMS (AI Management System) scope set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57"/>
              </a:spcBef>
              <a:spcAft>
                <a:spcPts val="916"/>
              </a:spcAft>
              <a:buClr>
                <a:srgbClr val="000000"/>
              </a:buClr>
              <a:buFont typeface="Arial"/>
              <a:buAutoNum type="arabicParenR"/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Currently used AI Systems registered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57"/>
              </a:spcBef>
              <a:spcAft>
                <a:spcPts val="916"/>
              </a:spcAft>
              <a:buClr>
                <a:srgbClr val="000000"/>
              </a:buClr>
              <a:buFont typeface="Arial"/>
              <a:buAutoNum type="arabicParenR"/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AI related projects registered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57"/>
              </a:spcBef>
              <a:spcAft>
                <a:spcPts val="916"/>
              </a:spcAft>
              <a:buClr>
                <a:srgbClr val="000000"/>
              </a:buClr>
              <a:buFont typeface="Arial"/>
              <a:buAutoNum type="arabicParenR"/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AI projects’ KPIs set 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57"/>
              </a:spcBef>
              <a:spcAft>
                <a:spcPts val="916"/>
              </a:spcAft>
              <a:buClr>
                <a:srgbClr val="000000"/>
              </a:buClr>
              <a:buFont typeface="Arial"/>
              <a:buAutoNum type="arabicParenR"/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Controls set and responsibilities addressed (evidence; which, </a:t>
            </a: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where, who, when)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57"/>
              </a:spcBef>
              <a:spcAft>
                <a:spcPts val="916"/>
              </a:spcAft>
              <a:buClr>
                <a:srgbClr val="000000"/>
              </a:buClr>
              <a:buFont typeface="Arial"/>
              <a:buAutoNum type="arabicParenR"/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Policies set → Policies and Guardrails for the Entity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57"/>
              </a:spcBef>
              <a:spcAft>
                <a:spcPts val="916"/>
              </a:spcAft>
              <a:buClr>
                <a:srgbClr val="000000"/>
              </a:buClr>
              <a:buFont typeface="Arial"/>
              <a:buAutoNum type="arabicParenR"/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Evidence Collection → Manual uploads + Automatic </a:t>
            </a: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integrations (Jira, DB Tables, Asana, etc.)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57"/>
              </a:spcBef>
              <a:spcAft>
                <a:spcPts val="916"/>
              </a:spcAft>
              <a:buClr>
                <a:srgbClr val="000000"/>
              </a:buClr>
              <a:buFont typeface="Arial"/>
              <a:buAutoNum type="arabicParenR"/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Evidence Vault → Centralized storage with integrity </a:t>
            </a: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verification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57"/>
              </a:spcBef>
              <a:spcAft>
                <a:spcPts val="916"/>
              </a:spcAft>
              <a:buClr>
                <a:srgbClr val="000000"/>
              </a:buClr>
              <a:buFont typeface="Arial"/>
              <a:buAutoNum type="arabicParenR"/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Control &amp; Audit Process → Human review + AI assistance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57"/>
              </a:spcBef>
              <a:spcAft>
                <a:spcPts val="916"/>
              </a:spcAft>
              <a:buClr>
                <a:srgbClr val="000000"/>
              </a:buClr>
              <a:buFont typeface="Arial"/>
              <a:buAutoNum type="arabicParenR"/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Artifact &amp; Scoring Engine → Trust scores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357"/>
              </a:spcBef>
              <a:spcAft>
                <a:spcPts val="91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Calibri"/>
                <a:ea typeface="Arial Unicode MS"/>
              </a:rPr>
              <a:t>Monitoring &amp; Reporting → Dashboards + Executive reports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357"/>
              </a:spcBef>
              <a:spcAft>
                <a:spcPts val="91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 Unicode MS"/>
              </a:rPr>
              <a:t>Continuous Improvement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LibreOffice/25.2.7.2$MacOSX_AARCH64 LibreOffice_project/5cbfd1ab6520636bb5f7b99185aa69bd7456825d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cp:lastPrinted>2026-02-13T08:43:30Z</cp:lastPrinted>
  <dcterms:modified xsi:type="dcterms:W3CDTF">2026-02-18T11:42:08Z</dcterms:modified>
  <cp:revision>17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