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LeadAI Governance Process 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Regulatory intake → policies &amp; KPIs → evidence → audit → scoring → executive reporting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831"/>
                </a:solidFill>
              </a:defRPr>
            </a:pPr>
            <a:r>
              <a:t>Regulatory funnel ingests EU AI Act, ISO/IEC 42001, NIST AI RMF.</a:t>
            </a:r>
          </a:p>
          <a:p>
            <a:pPr>
              <a:defRPr sz="2000">
                <a:solidFill>
                  <a:srgbClr val="222831"/>
                </a:solidFill>
              </a:defRPr>
            </a:pPr>
            <a:r>
              <a:t>Policies and guardrails drive KPI selection and monitoring requirements.</a:t>
            </a:r>
          </a:p>
          <a:p>
            <a:pPr>
              <a:defRPr sz="2000">
                <a:solidFill>
                  <a:srgbClr val="222831"/>
                </a:solidFill>
              </a:defRPr>
            </a:pPr>
            <a:r>
              <a:t>Evidence is captured, stored, and audited in the Evidence Vault.</a:t>
            </a:r>
          </a:p>
          <a:p>
            <a:pPr>
              <a:defRPr sz="2000">
                <a:solidFill>
                  <a:srgbClr val="222831"/>
                </a:solidFill>
              </a:defRPr>
            </a:pPr>
            <a:r>
              <a:t>Accepted artifacts generate trust scores and executive reports.</a:t>
            </a:r>
          </a:p>
          <a:p>
            <a:pPr>
              <a:defRPr sz="2000">
                <a:solidFill>
                  <a:srgbClr val="222831"/>
                </a:solidFill>
              </a:defRPr>
            </a:pPr>
            <a:r>
              <a:t>The process is recursive and monitored continuously.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Regulatory Funnel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9260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EU AI Act clauses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463040"/>
            <a:ext cx="29260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ISO/IEC 42001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463040"/>
            <a:ext cx="2926080" cy="914400"/>
          </a:xfrm>
          <a:prstGeom prst="roundRect">
            <a:avLst/>
          </a:prstGeom>
          <a:solidFill>
            <a:srgbClr val="F2F6FA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NIST AI RMF practices</a:t>
            </a:r>
          </a:p>
        </p:txBody>
      </p:sp>
      <p:sp>
        <p:nvSpPr>
          <p:cNvPr id="6" name="Chevron 5"/>
          <p:cNvSpPr/>
          <p:nvPr/>
        </p:nvSpPr>
        <p:spPr>
          <a:xfrm>
            <a:off x="3749039" y="2834640"/>
            <a:ext cx="4572000" cy="914400"/>
          </a:xfrm>
          <a:prstGeom prst="chevron">
            <a:avLst/>
          </a:prstGeom>
          <a:solidFill>
            <a:srgbClr val="0087BF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Normalize + Map to Governance Baseline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Policies, Guardrails, and KPI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420624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Policies &amp; Guardrails</a:t>
            </a:r>
          </a:p>
          <a:p>
            <a:pPr algn="ctr">
              <a:defRPr sz="1400"/>
            </a:pPr>
            <a:r>
              <a:t>(decide required controls)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463040"/>
            <a:ext cx="4206240" cy="1005840"/>
          </a:xfrm>
          <a:prstGeom prst="roundRect">
            <a:avLst/>
          </a:prstGeom>
          <a:solidFill>
            <a:srgbClr val="F2F6FA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KPI &amp; Metric Selection</a:t>
            </a:r>
          </a:p>
          <a:p>
            <a:pPr algn="ctr">
              <a:defRPr sz="1400"/>
            </a:pPr>
            <a:r>
              <a:t>(per project + control domain)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480560" y="1691640"/>
            <a:ext cx="1097280" cy="640080"/>
          </a:xfrm>
          <a:prstGeom prst="rightArrow">
            <a:avLst/>
          </a:prstGeom>
          <a:solidFill>
            <a:srgbClr val="0087BF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Evidence Vault and Internal Control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420624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Evidence Capture</a:t>
            </a:r>
          </a:p>
          <a:p>
            <a:pPr algn="ctr">
              <a:defRPr sz="1400"/>
            </a:pPr>
            <a:r>
              <a:t>(manual + automated)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463040"/>
            <a:ext cx="4206240" cy="1097280"/>
          </a:xfrm>
          <a:prstGeom prst="roundRect">
            <a:avLst/>
          </a:prstGeom>
          <a:solidFill>
            <a:srgbClr val="0087BF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Evidence Vault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(versioned system of record)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480560" y="1737360"/>
            <a:ext cx="1097280" cy="640080"/>
          </a:xfrm>
          <a:prstGeom prst="rightArrow">
            <a:avLst/>
          </a:prstGeom>
          <a:solidFill>
            <a:srgbClr val="0087BF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3108960"/>
            <a:ext cx="475488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Internal Control &amp; Audit</a:t>
            </a:r>
          </a:p>
          <a:p>
            <a:pPr algn="ctr">
              <a:defRPr sz="1400"/>
            </a:pPr>
            <a:r>
              <a:t>(AI-assisted human review)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Scoring and Executive Reporting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63040"/>
            <a:ext cx="420624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Accepted Artifacts</a:t>
            </a:r>
          </a:p>
          <a:p>
            <a:pPr algn="ctr">
              <a:defRPr sz="1400"/>
            </a:pPr>
            <a:r>
              <a:t>(verified evidence)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0" y="1463040"/>
            <a:ext cx="420624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/>
            </a:pPr>
            <a:r>
              <a:t>Trust Scorecards</a:t>
            </a:r>
          </a:p>
          <a:p>
            <a:pPr algn="ctr">
              <a:defRPr sz="1400"/>
            </a:pPr>
            <a:r>
              <a:t>(pillars + maturity)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480560" y="1737360"/>
            <a:ext cx="1097280" cy="640080"/>
          </a:xfrm>
          <a:prstGeom prst="rightArrow">
            <a:avLst/>
          </a:prstGeom>
          <a:solidFill>
            <a:srgbClr val="0087BF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91840" y="3108960"/>
            <a:ext cx="4754880" cy="1097280"/>
          </a:xfrm>
          <a:prstGeom prst="roundRect">
            <a:avLst/>
          </a:prstGeom>
          <a:solidFill>
            <a:srgbClr val="0087BF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Executive Reporting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(template + LLM narrative)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13D"/>
                </a:solidFill>
              </a:defRPr>
            </a:pPr>
            <a:r>
              <a:t>Continuous Monitoring &amp; Recursion</a:t>
            </a:r>
          </a:p>
        </p:txBody>
      </p:sp>
      <p:sp>
        <p:nvSpPr>
          <p:cNvPr id="3" name="Oval 2"/>
          <p:cNvSpPr/>
          <p:nvPr/>
        </p:nvSpPr>
        <p:spPr>
          <a:xfrm>
            <a:off x="3474720" y="1463040"/>
            <a:ext cx="4572000" cy="3108960"/>
          </a:xfrm>
          <a:prstGeom prst="ellipse">
            <a:avLst/>
          </a:prstGeom>
          <a:solidFill>
            <a:srgbClr val="F2F6FA"/>
          </a:solidFill>
          <a:ln>
            <a:solidFill>
              <a:srgbClr val="008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/>
            </a:pPr>
            <a:r>
              <a:t>Re-evaluate KPIs</a:t>
            </a:r>
          </a:p>
          <a:p>
            <a:pPr algn="ctr">
              <a:defRPr sz="1600"/>
            </a:pPr>
            <a:r>
              <a:t>Refresh Evidence</a:t>
            </a:r>
          </a:p>
          <a:p>
            <a:pPr algn="ctr">
              <a:defRPr sz="1600"/>
            </a:pPr>
            <a:r>
              <a:t>Update Scores</a:t>
            </a:r>
          </a:p>
          <a:p>
            <a:pPr algn="ctr">
              <a:defRPr sz="1600"/>
            </a:pPr>
            <a:r>
              <a:t>Publish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22831"/>
                </a:solidFill>
              </a:defRPr>
            </a:pPr>
            <a:r>
              <a:t>The governance cycle runs on schedule and on-demand, ensuring ongoing compliance and audit readiness.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